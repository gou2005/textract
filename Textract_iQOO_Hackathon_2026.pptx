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E1727"/>
          </a:solidFill>
          <a:ln w="15240">
            <a:solidFill>
              <a:srgbClr val="2D5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1143000"/>
            <a:ext cx="3840480" cy="384048"/>
          </a:xfrm>
          <a:prstGeom prst="roundRect">
            <a:avLst/>
          </a:prstGeom>
          <a:solidFill>
            <a:srgbClr val="102A41"/>
          </a:solidFill>
          <a:ln w="1270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0E6FC"/>
                </a:solidFill>
                <a:latin typeface="Segoe UI"/>
              </a:defRPr>
            </a:pPr>
            <a:r>
              <a:t>⚡ iQOO HACKATHON 2026 · IDEA-SCREENING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97840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90E6FC"/>
                </a:solidFill>
                <a:latin typeface="Segoe UI"/>
              </a:defRPr>
            </a:pPr>
            <a:r>
              <a:t>Textract</a:t>
            </a:r>
          </a:p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Context-Preserving Document &amp; Typography Editor</a:t>
            </a:r>
          </a:p>
          <a:p>
            <a:pPr>
              <a:defRPr sz="1350">
                <a:solidFill>
                  <a:srgbClr val="94A3B8"/>
                </a:solidFill>
                <a:latin typeface="Segoe UI"/>
              </a:defRPr>
            </a:pPr>
            <a:r>
              <a:t>100% On-Device, NPU-Accelerated In-Place Text Editing on Flattened Images.</a:t>
            </a:r>
            <a:br/>
            <a:r>
              <a:t>Eliminates Destructive Generative Hallucinations &amp; Reconstructs Backgrounds in Real-Time.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114800"/>
            <a:ext cx="4754880" cy="1645920"/>
          </a:xfrm>
          <a:prstGeom prst="roundRect">
            <a:avLst/>
          </a:prstGeom>
          <a:solidFill>
            <a:srgbClr val="142036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90E6FC"/>
                </a:solidFill>
                <a:latin typeface="Segoe UI"/>
              </a:defRPr>
            </a:pPr>
            <a:r>
              <a:t>PROJECT TEAM &amp; AUTHORS</a:t>
            </a:r>
          </a:p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• Krishan Gupta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• Gourav Chakraborty</a:t>
            </a:r>
          </a:p>
          <a:p>
            <a:pPr>
              <a:defRPr sz="950">
                <a:solidFill>
                  <a:srgbClr val="50B4D7"/>
                </a:solidFill>
                <a:latin typeface="Segoe UI"/>
              </a:defRPr>
            </a:pPr>
            <a:r>
              <a:t>Target Hardware: iQOO 12 / Neo 9 Pro (Snapdragon Hexagon NPU)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4754880" cy="347472"/>
          </a:xfrm>
          <a:prstGeom prst="roundRect">
            <a:avLst/>
          </a:prstGeom>
          <a:solidFill>
            <a:srgbClr val="101A2C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>
              <a:defRPr sz="1000">
                <a:solidFill>
                  <a:srgbClr val="BEF3FE"/>
                </a:solidFill>
                <a:latin typeface="Segoe UI"/>
              </a:defRPr>
            </a:pPr>
            <a:r>
              <a:t>⚡ Sub-40ms Pipeline  —  OpenCV Fast Marching Telea inpainting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17136"/>
            <a:ext cx="4754880" cy="347472"/>
          </a:xfrm>
          <a:prstGeom prst="roundRect">
            <a:avLst/>
          </a:prstGeom>
          <a:solidFill>
            <a:srgbClr val="101A2C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>
              <a:defRPr sz="1000">
                <a:solidFill>
                  <a:srgbClr val="BEF3FE"/>
                </a:solidFill>
                <a:latin typeface="Segoe UI"/>
              </a:defRPr>
            </a:pPr>
            <a:r>
              <a:t>🔒 100% Offline Manifest  —  Zero network calls; sealed local data privacy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919472"/>
            <a:ext cx="4754880" cy="347472"/>
          </a:xfrm>
          <a:prstGeom prst="roundRect">
            <a:avLst/>
          </a:prstGeom>
          <a:solidFill>
            <a:srgbClr val="101A2C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>
              <a:defRPr sz="1000">
                <a:solidFill>
                  <a:srgbClr val="BEF3FE"/>
                </a:solidFill>
                <a:latin typeface="Segoe UI"/>
              </a:defRPr>
            </a:pPr>
            <a:r>
              <a:t>🚀 Snapdragon NPU Offload  —  Quantized INT8 ONNX Mobile NNAPI 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321808"/>
            <a:ext cx="4754880" cy="347472"/>
          </a:xfrm>
          <a:prstGeom prst="roundRect">
            <a:avLst/>
          </a:prstGeom>
          <a:solidFill>
            <a:srgbClr val="101A2C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>
              <a:defRPr sz="1000">
                <a:solidFill>
                  <a:srgbClr val="BEF3FE"/>
                </a:solidFill>
                <a:latin typeface="Segoe UI"/>
              </a:defRPr>
            </a:pPr>
            <a:r>
              <a:t>🎨 11-D Typography Match  —  Auto-extracts weight, slant, color &amp; kerning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MARKET NEED &amp; PAIN POINTS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Problem: Flattened Documents Are Fragile, Static &amp; Locked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Billions of images lack layered source files. Editing text today is either destructive or slow.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35661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400"/>
              </a:spcAft>
              <a:defRPr sz="1600" b="1">
                <a:solidFill>
                  <a:srgbClr val="FBBF24"/>
                </a:solidFill>
                <a:latin typeface="Segoe UI"/>
              </a:defRPr>
            </a:pPr>
            <a:r>
              <a:t>🛑 Destructive Erasure &amp; Halos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Standard photo erasers place solid patches or blurry rectangular smudges over text, permanently corrupting intricate background gradients, textures, and decorative vectors.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35661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400"/>
              </a:spcAft>
              <a:defRPr sz="1600" b="1">
                <a:solidFill>
                  <a:srgbClr val="90E6FC"/>
                </a:solidFill>
                <a:latin typeface="Segoe UI"/>
              </a:defRPr>
            </a:pPr>
            <a:r>
              <a:t>🎨 Lost Typography &amp; Guesswork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Flattened pixels lose all font metadata. Users must manually guess font family, weight (300-900), slant angle, letter-spacing, and hex colors, producing amateurish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383280" cy="35661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4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☁️ Cloud Latency &amp; Privacy Risks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Cloud GenAI tools (Canva, Photoshop) require 3–8 seconds per edit and force sensitive contracts, IDs, and financial records onto remote servers with severe privacy risks.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10728655" cy="1005840"/>
          </a:xfrm>
          <a:prstGeom prst="roundRect">
            <a:avLst/>
          </a:prstGeom>
          <a:solidFill>
            <a:srgbClr val="102A41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>
              <a:defRPr sz="1350" b="1">
                <a:solidFill>
                  <a:srgbClr val="90E6FC"/>
                </a:solidFill>
                <a:latin typeface="Segoe UI"/>
              </a:defRPr>
            </a:pPr>
            <a:r>
              <a:t>THE REAL-WORLD IMPACT:  82% of small businesses lack original layered design files · 4,500ms avg cloud AI delay vs. &lt;40ms with Textract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PRODUCT INNOVATION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Solution: Intelligent In-Place Document Synthesis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Tap, type, and synthesize — Textract edits flattened text with pixel-perfect background preservation.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5780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1. Auto-Detection &amp; OCR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RapidOCR ONNX &amp; Mobile DBNet detect oriented and multi-scale text blocks in sub-30ms.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25780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2. 11-D Typography Profiling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Deterministic CV extracts weight (300-900), slant angle, kerning, and median hex colors in &lt;2ms.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86200"/>
            <a:ext cx="525780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3. Smart Glyph Inpainting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OpenCV Telea fast marching algorithm inpaints only dilated character ink strokes; zero background loss.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886200"/>
            <a:ext cx="5257800" cy="205740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4. Interactive 2D Canvas Engine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8-way directional resize handles, move transform, and live typography controls with dynamic letter-spacing.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SYSTEM ENGINEERING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Architectural Pipeline: From Raw Pixels to Vector Canvas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Hybrid on-device edge execution combining ONNX neural networks, OpenCV vision, and HTML5 Canvas.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94960" cy="8686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90E6FC"/>
                </a:solidFill>
                <a:latin typeface="Segoe UI"/>
              </a:defRPr>
            </a:pPr>
            <a:r>
              <a:t>1. Input &amp; Normalization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Camera grab or visual picker with EXIF rotation correction &amp; scaled downsampling.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14600"/>
            <a:ext cx="5394960" cy="8686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D5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90E6FC"/>
                </a:solidFill>
                <a:latin typeface="Segoe UI"/>
              </a:defRPr>
            </a:pPr>
            <a:r>
              <a:t>2. Edge Detection (ONNX / NNAPI)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PP-OCRv5 DBNet INT8 offloaded to Snapdragon Hexagon Tensor NPU via NNAPI.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5394960" cy="8686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90E6FC"/>
                </a:solidFill>
                <a:latin typeface="Segoe UI"/>
              </a:defRPr>
            </a:pPr>
            <a:r>
              <a:t>3. Deep Typography Profiler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Otsu binarization, Euclidean Distance Transform (weight), and Hough Line tilt.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434840"/>
            <a:ext cx="5394960" cy="8686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90E6FC"/>
                </a:solidFill>
                <a:latin typeface="Segoe UI"/>
              </a:defRPr>
            </a:pPr>
            <a:r>
              <a:t>4. Smart Inpainting Engine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Fast Marching Method (Telea) dilated ROI inpainting preserves gradients.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94960"/>
            <a:ext cx="5394960" cy="8686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90E6FC"/>
                </a:solidFill>
                <a:latin typeface="Segoe UI"/>
              </a:defRPr>
            </a:pPr>
            <a:r>
              <a:t>5. Interactive Vector Canvas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Dynamic HTML5 2D renderer with 8-way resize anchors, move handles &amp; undo stack.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5029200" cy="4297680"/>
          </a:xfrm>
          <a:prstGeom prst="roundRect">
            <a:avLst/>
          </a:prstGeom>
          <a:solidFill>
            <a:srgbClr val="0E1727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4937760" cy="33449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943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B4D7"/>
                </a:solidFill>
                <a:latin typeface="Segoe UI"/>
              </a:defRPr>
            </a:pPr>
            <a:r>
              <a:t>Figure 1: Textract End-to-End Live System Interface (Document Canvas &amp; Profiler)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PROPRIETARY COMPUTER VISION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Deep Typography Profiler: Extracting 11 Style Dimensions in &lt;2ms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Standard OCR outputs plain strings. Textract extracts full visual typography without source fonts.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6217920" cy="10515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400" b="1">
                <a:solidFill>
                  <a:srgbClr val="90E6FC"/>
                </a:solidFill>
                <a:latin typeface="Segoe UI"/>
              </a:defRPr>
            </a:pPr>
            <a:r>
              <a:t>Median Hex Color Sampling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Samples foreground RGB across Otsu ink pixels; ring perimeter sampling guarantees contrast ratio.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6217920" cy="10515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400" b="1">
                <a:solidFill>
                  <a:srgbClr val="90E6FC"/>
                </a:solidFill>
                <a:latin typeface="Segoe UI"/>
              </a:defRPr>
            </a:pPr>
            <a:r>
              <a:t>Font Weight Profiling (300-900)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Euclidean Distance Transform (D(x,y)) computes stroke radius normalized against bounding box height.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6217920" cy="10515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400" b="1">
                <a:solidFill>
                  <a:srgbClr val="90E6FC"/>
                </a:solidFill>
                <a:latin typeface="Segoe UI"/>
              </a:defRPr>
            </a:pPr>
            <a:r>
              <a:t>Italic Slant via Hough Transform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Probabilistic Hough Line Transform (cv2.HoughLinesP) measures stroke angle theta for exact tilt shearing.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83480"/>
            <a:ext cx="6217920" cy="105156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400" b="1">
                <a:solidFill>
                  <a:srgbClr val="90E6FC"/>
                </a:solidFill>
                <a:latin typeface="Segoe UI"/>
              </a:defRPr>
            </a:pPr>
            <a:r>
              <a:t>Dynamic Spacing &amp; Kerning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Computes inter-character pitch and dynamic letter-spacing; auto-scales font size to fit boxes perfectly.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554480"/>
            <a:ext cx="4144975" cy="4297680"/>
          </a:xfrm>
          <a:prstGeom prst="roundRect">
            <a:avLst/>
          </a:prstGeom>
          <a:solidFill>
            <a:srgbClr val="0E1727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_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45920"/>
            <a:ext cx="3522527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5943600"/>
            <a:ext cx="41449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B4D7"/>
                </a:solidFill>
                <a:latin typeface="Segoe UI"/>
              </a:defRPr>
            </a:pPr>
            <a:r>
              <a:t>Figure 2: Textract Auto-Extracted Typography Attributes Panel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CONTEXT-PRESERVING RECONSTRUCTION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Smart Glyph Inpainting: Flawless Texture Reconstruction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OpenCV Telea Fast Marching Method operating exclusively on dilated character ink strokes.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47548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400"/>
              </a:spcAft>
              <a:defRPr sz="1600" b="1">
                <a:solidFill>
                  <a:srgbClr val="FBBF24"/>
                </a:solidFill>
                <a:latin typeface="Segoe UI"/>
              </a:defRPr>
            </a:pPr>
            <a:r>
              <a:t>Why Rectangle Erasers Fail: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Traditional tools wipe entire rectangular bounding boxes, destroying underlying wood grains, mesh gradients, or decorative lines.</a:t>
            </a:r>
            <a:br/>
          </a:p>
          <a:p>
            <a:pPr>
              <a:spcAft>
                <a:spcPts val="600"/>
              </a:spcAft>
              <a:defRPr sz="1600" b="1">
                <a:solidFill>
                  <a:srgbClr val="90E6FC"/>
                </a:solidFill>
                <a:latin typeface="Segoe UI"/>
              </a:defRPr>
            </a:pPr>
            <a:r>
              <a:t>The Textract Glyph Inpainting Advantage: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1. Precise Ink Segmentation: Otsu thresholding creates an exact mask of character strokes.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2. 4px Elliptical Dilation: Seamlessly covers anti-aliased font boundaries without bleeding.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3. Telea Fast Marching (&lt;15ms): Propagates outer boundary texture inward along level sets.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4. Original Footprint Lock (originalBox): Background erasure is permanently anchored to the original detected location, even when the text box is dragged elsewhere!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94960" cy="4297680"/>
          </a:xfrm>
          <a:prstGeom prst="roundRect">
            <a:avLst/>
          </a:prstGeom>
          <a:solidFill>
            <a:srgbClr val="0E1727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00200"/>
            <a:ext cx="5303520" cy="2981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59436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B4D7"/>
                </a:solidFill>
                <a:latin typeface="Segoe UI"/>
              </a:defRPr>
            </a:pPr>
            <a:r>
              <a:t>Figure 2: Textract Before/After Split Comparison Showing Pixel-Perfect Background Retention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INTERACTIVE DESIGN &amp; UX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Complete Spatial Control: 8-Way Resizing &amp; Move Transform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Intuitive canvas interaction: edit text, drag locations, and resize bounding boxes with sub-pixel precision.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669280" cy="475488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200"/>
              </a:spcAft>
              <a:defRPr sz="1500" b="1">
                <a:solidFill>
                  <a:srgbClr val="90E6FC"/>
                </a:solidFill>
                <a:latin typeface="Segoe UI"/>
              </a:defRPr>
            </a:pPr>
            <a:r>
              <a:t>8 Directional Handles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Top, Bottom, Left, Right, and 4 corner handles allow granular bounding box expansion to accommodate longer headlines without clipping.</a:t>
            </a:r>
          </a:p>
          <a:p>
            <a:pPr>
              <a:spcAft>
                <a:spcPts val="200"/>
              </a:spcAft>
              <a:defRPr sz="1500" b="1">
                <a:solidFill>
                  <a:srgbClr val="90E6FC"/>
                </a:solidFill>
                <a:latin typeface="Segoe UI"/>
              </a:defRPr>
            </a:pPr>
            <a:r>
              <a:t>Dedicated Move Anchor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Top-mounted anchor allows fluid dragging across the canvas without accidental resizing, separating positioning from dimension control.</a:t>
            </a:r>
          </a:p>
          <a:p>
            <a:pPr>
              <a:spcAft>
                <a:spcPts val="200"/>
              </a:spcAft>
              <a:defRPr sz="1500" b="1">
                <a:solidFill>
                  <a:srgbClr val="90E6FC"/>
                </a:solidFill>
                <a:latin typeface="Segoe UI"/>
              </a:defRPr>
            </a:pPr>
            <a:r>
              <a:t>In-Place Selection Appearance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The active editor matches the exact font size, color, and line height of document text — completely eliminating oversized disruptive overlays.</a:t>
            </a:r>
          </a:p>
          <a:p>
            <a:pPr>
              <a:spcAft>
                <a:spcPts val="200"/>
              </a:spcAft>
              <a:defRPr sz="1500" b="1">
                <a:solidFill>
                  <a:srgbClr val="90E6FC"/>
                </a:solidFill>
                <a:latin typeface="Segoe UI"/>
              </a:defRPr>
            </a:pPr>
            <a:r>
              <a:t>Scale-to-Fit Engine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Segoe UI"/>
              </a:defRPr>
            </a:pPr>
            <a:r>
              <a:t>Automatically scales font size and letter-spacing proportionally when the user types longer replacement strings, keeping layout balanced.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554480"/>
            <a:ext cx="4754880" cy="4754880"/>
          </a:xfrm>
          <a:prstGeom prst="roundRect">
            <a:avLst/>
          </a:prstGeom>
          <a:solidFill>
            <a:srgbClr val="0E1727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394711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59893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B4D7"/>
                </a:solidFill>
                <a:latin typeface="Segoe UI"/>
              </a:defRPr>
            </a:pPr>
            <a:r>
              <a:t>Figure 3: 8-Way Interactive Resize Handles &amp; In-Place Inline Editor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COMPREHENSIVE FEATURE MATRIX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Built for Real-World Productivity: Enterprise Toolset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Beyond a proof-of-concept — Textract delivers a robust, production-ready feature matrix.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Before/After Split Slider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Draggable interactive comparison divider.</a:t>
            </a:r>
            <a:br/>
            <a:r>
              <a:t>Provides instant visual proof of background pixel retention and seamless blending.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Draw-to-Edit Mode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Manual bounding box selection for artistic, un-detected, or stylized cursive text regions with instant inpainting.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Batch Multi-Document Edit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Global find-and-replace dialog across multiple flyers simultaneously; update prices &amp; event dates in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3192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Multi-Level Undo/Redo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Non-destructive EditHistoryManager stack.</a:t>
            </a:r>
            <a:br/>
            <a:r>
              <a:t>Step-by-step undo/redo with instant 1-click restore to original document state.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EMPIRICAL VALIDATION &amp; BENCHMARKS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Performance: 100x Faster Than Cloud Generative AI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Sub-40ms turnaround vs. multi-second cloud queues and destructive diffusion hallucinations.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651760"/>
                <a:gridCol w="2651760"/>
                <a:gridCol w="2864815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 / Scenario</a:t>
                      </a:r>
                    </a:p>
                  </a:txBody>
                  <a:tcPr>
                    <a:solidFill>
                      <a:srgbClr val="101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Cloud GenAI (Canva, Adobe)</a:t>
                      </a:r>
                    </a:p>
                  </a:txBody>
                  <a:tcPr>
                    <a:solidFill>
                      <a:srgbClr val="101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Desktop Photoshop / GIMP</a:t>
                      </a:r>
                    </a:p>
                  </a:txBody>
                  <a:tcPr>
                    <a:solidFill>
                      <a:srgbClr val="101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90E6FC"/>
                          </a:solidFill>
                          <a:latin typeface="Segoe UI"/>
                        </a:defRPr>
                      </a:pPr>
                      <a:r>
                        <a:t>Textract (Our System)</a:t>
                      </a:r>
                    </a:p>
                  </a:txBody>
                  <a:tcPr>
                    <a:solidFill>
                      <a:srgbClr val="102A4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End-to-End Latency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3,000 – 6,000 ms (Queue delay)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180,000 ms (2-3 min manual)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&lt; 40 ms (Real-time instant)</a:t>
                      </a:r>
                    </a:p>
                  </a:txBody>
                  <a:tcPr>
                    <a:solidFill>
                      <a:srgbClr val="1226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Inpainting / Erasure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2,000 – 4,000 ms (Diffusion)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Manual clone stamping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~14 ms (OpenCV Telea)</a:t>
                      </a:r>
                    </a:p>
                  </a:txBody>
                  <a:tcPr>
                    <a:solidFill>
                      <a:srgbClr val="1226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Data Privacy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Uploaded to external cloud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Local manual edits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100% Sealed On-Device</a:t>
                      </a:r>
                    </a:p>
                  </a:txBody>
                  <a:tcPr>
                    <a:solidFill>
                      <a:srgbClr val="1226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per Edit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$0.03 – $0.08 per API call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$20+/month subscription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$0.00 (Zero marginal cost)</a:t>
                      </a:r>
                    </a:p>
                  </a:txBody>
                  <a:tcPr>
                    <a:solidFill>
                      <a:srgbClr val="1226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Memory Footprint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Cloud GPU server clusters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250 MB – 1 GB RAM</a:t>
                      </a:r>
                    </a:p>
                  </a:txBody>
                  <a:tcPr>
                    <a:solidFill>
                      <a:srgbClr val="13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90E6FC"/>
                          </a:solidFill>
                          <a:latin typeface="Segoe UI"/>
                        </a:defRPr>
                      </a:pPr>
                      <a:r>
                        <a:t>&lt; 45 MB RAM (INT8 4.2MB)</a:t>
                      </a:r>
                    </a:p>
                  </a:txBody>
                  <a:tcPr>
                    <a:solidFill>
                      <a:srgbClr val="12263E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Hallucination Risk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High (fake logos, warped text)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(human manual)</a:t>
                      </a:r>
                    </a:p>
                  </a:txBody>
                  <a:tcPr>
                    <a:solidFill>
                      <a:srgbClr val="0F1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0% (Deterministic CV)</a:t>
                      </a:r>
                    </a:p>
                  </a:txBody>
                  <a:tcPr>
                    <a:solidFill>
                      <a:srgbClr val="12263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852160"/>
            <a:ext cx="10728655" cy="594360"/>
          </a:xfrm>
          <a:prstGeom prst="roundRect">
            <a:avLst/>
          </a:prstGeom>
          <a:solidFill>
            <a:srgbClr val="101A2C"/>
          </a:solidFill>
          <a:ln w="15240">
            <a:solidFill>
              <a:srgbClr val="2D5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150" b="1">
                <a:solidFill>
                  <a:srgbClr val="90E6FC"/>
                </a:solidFill>
                <a:latin typeface="Segoe UI"/>
              </a:defRPr>
            </a:pPr>
            <a:r>
              <a:t>⚡ SUMMARY: Textract delivers 100x lower latency, 0% hallucination rate, and zero subscription costs.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TARGET HARDWARE &amp; OPTIMIZATION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Engineered for iQOO: Qualcomm Hexagon NPU Offload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Leveraging Snapdragon 8 Gen 3 / 8s Gen 3 tensor accelerators via ONNX Mobile NNAPI 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66344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spcAft>
                <a:spcPts val="14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Qualcomm Hexagon NPU (HTA)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Binds ONNX Runtime Mobile directly to Android NNAPI Execution Provider.</a:t>
            </a:r>
            <a:br/>
            <a:r>
              <a:t>Offloads compute-heavy convolutional and matrix multiplications to the Hexagon Tensor Accelerator, completing OCR detection in sub-30ms.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466344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spcAft>
                <a:spcPts val="14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INT8 Model Quantization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Applies symmetric per-channel INT8 quantization to PP-OCRv5 DBNet.</a:t>
            </a:r>
            <a:br/>
            <a:r>
              <a:t>Slashes combined model weights from 17 MB down to 4.2 MB with under 0.3% degradation in character recognition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383280" cy="466344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ctr">
              <a:spcAft>
                <a:spcPts val="14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Zero Cellular Battery Drain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Traditional cloud editors keep 5G radios awake with high power drain.</a:t>
            </a:r>
            <a:br/>
            <a:r>
              <a:t>Textract operates 100% locally in RAM and NPU cache, consuming 12x less energy per edit and ensuring complete air-gapped security.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MARKET APPLICATIONS &amp; IMPACT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High-Value Business Verticals: Enterprise Applications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Empowering businesses to update marketing, event, and compliance documents in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🍽️ Retail &amp; Restaurants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Update daily specials, happy hour menus, and retail price tags on existing marketing collateral without redesigning from scratch.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🎟️ Events &amp; Conferences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Personalize delegate certificates, modify speaker timetables, and update event banners directly on mobile devices on the event floor.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🌐 Marketing Localization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Translate marketing flyers into regional Indian languages (Hindi, Tamil, Bengali) while strictly retaining brand typography &amp; layout.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31920"/>
            <a:ext cx="5257800" cy="210312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700" b="1">
                <a:solidFill>
                  <a:srgbClr val="90E6FC"/>
                </a:solidFill>
                <a:latin typeface="Segoe UI"/>
              </a:defRPr>
            </a:pPr>
            <a:r>
              <a:t>⚖️ Legal &amp; BFSI Redaction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Local air-gapped document editing: redact account numbers, correct dates, and update compliance forms with 100% data confidentiality.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0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90E6FC"/>
                </a:solidFill>
                <a:latin typeface="Segoe UI"/>
              </a:defRPr>
            </a:pPr>
            <a:r>
              <a:t>ROADMAP &amp; VISION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Future of Document Synthesis: Next Milestones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Strategic evolution from web proof-of-concept to native iQOO mobile 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329184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90E6FC"/>
                </a:solidFill>
                <a:latin typeface="Segoe UI"/>
              </a:defRPr>
            </a:pPr>
            <a:r>
              <a:t>Phase 1: Shipped &amp; Validated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• FastAPI + ONNX Runtime backend</a:t>
            </a:r>
            <a:br/>
            <a:r>
              <a:t>• 11-D Typography Profiler</a:t>
            </a:r>
            <a:br/>
            <a:r>
              <a:t>• OpenCV Telea Inpainting</a:t>
            </a:r>
            <a:br/>
            <a:r>
              <a:t>• 8-Way Resize &amp; Move Transform</a:t>
            </a:r>
            <a:br/>
            <a:r>
              <a:t>• Before/After Split Slider</a:t>
            </a:r>
            <a:br/>
            <a:r>
              <a:t>• Batch Multi-Edit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329184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Phase 2: iQOO Native App (Q3 2026)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• Jetpack Compose Material 3 UI</a:t>
            </a:r>
            <a:br/>
            <a:r>
              <a:t>• Qualcomm Hexagon NPU offload</a:t>
            </a:r>
            <a:br/>
            <a:r>
              <a:t>• Android MediaStore integration</a:t>
            </a:r>
            <a:br/>
            <a:r>
              <a:t>• Scoped storage security</a:t>
            </a:r>
            <a:br/>
            <a:r>
              <a:t>• On-device offline Speech-to-Text</a:t>
            </a:r>
            <a:br/>
            <a:r>
              <a:t>• Haptic slider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383280" cy="3291840"/>
          </a:xfrm>
          <a:prstGeom prst="roundRect">
            <a:avLst/>
          </a:prstGeom>
          <a:solidFill>
            <a:srgbClr val="131E32"/>
          </a:solidFill>
          <a:ln w="15240">
            <a:solidFill>
              <a:srgbClr val="2030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Phase 3: Advanced Vision (Q4 2026)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• Curved &amp; perspective text warping</a:t>
            </a:r>
            <a:br/>
            <a:r>
              <a:t>• Multi-line paragraph auto-reflow</a:t>
            </a:r>
            <a:br/>
            <a:r>
              <a:t>• Automatic Google Fonts CDN pairing</a:t>
            </a:r>
            <a:br/>
            <a:r>
              <a:t>• Multilingual Devanagari/Tamil fonts</a:t>
            </a:r>
            <a:br/>
            <a:r>
              <a:t>• Vector PDF direct export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28655" cy="1280160"/>
          </a:xfrm>
          <a:prstGeom prst="roundRect">
            <a:avLst/>
          </a:prstGeom>
          <a:solidFill>
            <a:srgbClr val="102A41"/>
          </a:solidFill>
          <a:ln w="15240">
            <a:solidFill>
              <a:srgbClr val="90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600" b="1">
                <a:solidFill>
                  <a:srgbClr val="90E6FC"/>
                </a:solidFill>
                <a:latin typeface="Segoe UI"/>
              </a:defRPr>
            </a:pPr>
            <a:r>
              <a:t>Textract: "Don't recreate the document. Just edit the text."</a:t>
            </a:r>
          </a:p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iQOO Hackathon 2026 Submission  |  Project: Textract  |  Teammates: Krishan Gupta, Gourav Chakraborty</a:t>
            </a:r>
          </a:p>
          <a:p>
            <a:pPr>
              <a:defRPr sz="1050">
                <a:solidFill>
                  <a:srgbClr val="50B4D7"/>
                </a:solidFill>
                <a:latin typeface="Segoe UI"/>
              </a:defRPr>
            </a:pPr>
            <a:r>
              <a:t>Repository: Open Source MIT License  ·  Validated on iQOO Flagship &amp; Neo Series Hardware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