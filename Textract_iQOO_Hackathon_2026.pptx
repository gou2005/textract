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6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61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88720" y="1097280"/>
            <a:ext cx="3931920" cy="384048"/>
          </a:xfrm>
          <a:prstGeom prst="roundRect">
            <a:avLst/>
          </a:prstGeom>
          <a:solidFill>
            <a:srgbClr val="061830"/>
          </a:solidFill>
          <a:ln w="12700">
            <a:solidFill>
              <a:srgbClr val="061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FFFF"/>
                </a:solidFill>
                <a:latin typeface="Segoe UI"/>
              </a:defRPr>
            </a:pPr>
            <a:r>
              <a:t>⚡ iQOO HACKATHON 2026 · IDEA-SCREENING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691640"/>
            <a:ext cx="9784080" cy="2148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5000" b="1">
                <a:solidFill>
                  <a:srgbClr val="061830"/>
                </a:solidFill>
                <a:latin typeface="Segoe UI"/>
              </a:defRPr>
            </a:pPr>
            <a:r>
              <a:t>Textract</a:t>
            </a:r>
          </a:p>
          <a:p>
            <a:pPr>
              <a:spcAft>
                <a:spcPts val="800"/>
              </a:spcAft>
              <a:defRPr sz="2200" b="1">
                <a:solidFill>
                  <a:srgbClr val="004BA5"/>
                </a:solidFill>
                <a:latin typeface="Segoe UI"/>
              </a:defRPr>
            </a:pPr>
            <a:r>
              <a:t>Context-Preserving Document &amp; Typography Editor</a:t>
            </a:r>
          </a:p>
          <a:p>
            <a:pPr>
              <a:defRPr sz="1350">
                <a:solidFill>
                  <a:srgbClr val="142438"/>
                </a:solidFill>
                <a:latin typeface="Segoe UI"/>
              </a:defRPr>
            </a:pPr>
            <a:r>
              <a:t>100% On-Device, NPU-Accelerated In-Place Text Editing on Flattened Images.</a:t>
            </a:r>
            <a:br/>
            <a:r>
              <a:t>Eliminates Destructive Generative Hallucinations &amp; Reconstructs Backgrounds in Real-Time.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4114800"/>
            <a:ext cx="4754880" cy="1691640"/>
          </a:xfrm>
          <a:prstGeom prst="roundRect">
            <a:avLst/>
          </a:prstGeom>
          <a:solidFill>
            <a:srgbClr val="C6F5FF"/>
          </a:solidFill>
          <a:ln w="15240">
            <a:solidFill>
              <a:srgbClr val="061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/>
          <a:lstStyle/>
          <a:p>
            <a:pPr algn="ctr">
              <a:spcAft>
                <a:spcPts val="400"/>
              </a:spcAft>
              <a:defRPr sz="1000" b="1">
                <a:solidFill>
                  <a:srgbClr val="004BA5"/>
                </a:solidFill>
                <a:latin typeface="Segoe UI"/>
              </a:defRPr>
            </a:pPr>
            <a:r>
              <a:t>PROJECT TEAM &amp; AUTHORS</a:t>
            </a:r>
          </a:p>
          <a:p>
            <a:pPr>
              <a:defRPr sz="1500" b="1">
                <a:solidFill>
                  <a:srgbClr val="061830"/>
                </a:solidFill>
                <a:latin typeface="Segoe UI"/>
              </a:defRPr>
            </a:pPr>
            <a:r>
              <a:t>• Krishan Gupta</a:t>
            </a:r>
          </a:p>
          <a:p>
            <a:pPr>
              <a:spcAft>
                <a:spcPts val="300"/>
              </a:spcAft>
              <a:defRPr sz="1500" b="1">
                <a:solidFill>
                  <a:srgbClr val="061830"/>
                </a:solidFill>
                <a:latin typeface="Segoe UI"/>
              </a:defRPr>
            </a:pPr>
            <a:r>
              <a:t>• Gourav Chakraborty</a:t>
            </a:r>
          </a:p>
          <a:p>
            <a:pPr>
              <a:defRPr sz="950">
                <a:solidFill>
                  <a:srgbClr val="344862"/>
                </a:solidFill>
                <a:latin typeface="Segoe UI"/>
              </a:defRPr>
            </a:pPr>
            <a:r>
              <a:t>Target Hardware: iQOO 12 / Neo 9 Pro (Snapdragon Hexagon NPU)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114800"/>
            <a:ext cx="4754880" cy="356616"/>
          </a:xfrm>
          <a:prstGeom prst="roundRect">
            <a:avLst/>
          </a:prstGeom>
          <a:solidFill>
            <a:srgbClr val="E4FCFF"/>
          </a:solidFill>
          <a:ln w="15240">
            <a:solidFill>
              <a:srgbClr val="1E5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54864"/>
          <a:lstStyle/>
          <a:p>
            <a:pPr algn="ctr">
              <a:defRPr sz="1000" b="1">
                <a:solidFill>
                  <a:srgbClr val="061830"/>
                </a:solidFill>
                <a:latin typeface="Segoe UI"/>
              </a:defRPr>
            </a:pPr>
            <a:r>
              <a:t>⚡ Sub-40ms Pipeline  —  OpenCV Fast Marching Telea inpainting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526280"/>
            <a:ext cx="4754880" cy="356616"/>
          </a:xfrm>
          <a:prstGeom prst="roundRect">
            <a:avLst/>
          </a:prstGeom>
          <a:solidFill>
            <a:srgbClr val="E4FCFF"/>
          </a:solidFill>
          <a:ln w="15240">
            <a:solidFill>
              <a:srgbClr val="1E5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54864"/>
          <a:lstStyle/>
          <a:p>
            <a:pPr algn="ctr">
              <a:defRPr sz="1000" b="1">
                <a:solidFill>
                  <a:srgbClr val="061830"/>
                </a:solidFill>
                <a:latin typeface="Segoe UI"/>
              </a:defRPr>
            </a:pPr>
            <a:r>
              <a:t>🔒 100% Offline Manifest  —  Zero network calls; sealed local data privacy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937760"/>
            <a:ext cx="4754880" cy="356616"/>
          </a:xfrm>
          <a:prstGeom prst="roundRect">
            <a:avLst/>
          </a:prstGeom>
          <a:solidFill>
            <a:srgbClr val="E4FCFF"/>
          </a:solidFill>
          <a:ln w="15240">
            <a:solidFill>
              <a:srgbClr val="1E5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54864"/>
          <a:lstStyle/>
          <a:p>
            <a:pPr algn="ctr">
              <a:defRPr sz="1000" b="1">
                <a:solidFill>
                  <a:srgbClr val="061830"/>
                </a:solidFill>
                <a:latin typeface="Segoe UI"/>
              </a:defRPr>
            </a:pPr>
            <a:r>
              <a:t>🚀 Snapdragon NPU Offload  —  Quantized INT8 ONNX Mobile NNAPI EP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5349240"/>
            <a:ext cx="4754880" cy="356616"/>
          </a:xfrm>
          <a:prstGeom prst="roundRect">
            <a:avLst/>
          </a:prstGeom>
          <a:solidFill>
            <a:srgbClr val="E4FCFF"/>
          </a:solidFill>
          <a:ln w="15240">
            <a:solidFill>
              <a:srgbClr val="1E5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54864"/>
          <a:lstStyle/>
          <a:p>
            <a:pPr algn="ctr">
              <a:defRPr sz="1000" b="1">
                <a:solidFill>
                  <a:srgbClr val="061830"/>
                </a:solidFill>
                <a:latin typeface="Segoe UI"/>
              </a:defRPr>
            </a:pPr>
            <a:r>
              <a:t>🎨 11-D Typography Match  —  Auto-extracts weight, slant, color &amp; kerning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6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04BA5"/>
                </a:solidFill>
                <a:latin typeface="Segoe UI"/>
              </a:defRPr>
            </a:pPr>
            <a:r>
              <a:t>MARKET NEED &amp; PAIN POINTS</a:t>
            </a:r>
          </a:p>
          <a:p>
            <a:pPr>
              <a:spcAft>
                <a:spcPts val="200"/>
              </a:spcAft>
              <a:defRPr sz="2200" b="1">
                <a:solidFill>
                  <a:srgbClr val="061830"/>
                </a:solidFill>
                <a:latin typeface="Segoe UI"/>
              </a:defRPr>
            </a:pPr>
            <a:r>
              <a:t>The Problem: Flattened Documents Are Fragile, Static &amp; Locked</a:t>
            </a:r>
          </a:p>
          <a:p>
            <a:pPr>
              <a:defRPr sz="1200">
                <a:solidFill>
                  <a:srgbClr val="142438"/>
                </a:solidFill>
                <a:latin typeface="Segoe UI"/>
              </a:defRPr>
            </a:pPr>
            <a:r>
              <a:t>Billions of images lack layered source files. Editing text today is either destructive or slow.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3383280" cy="3566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A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400"/>
              </a:spcAft>
              <a:defRPr sz="1600" b="1">
                <a:solidFill>
                  <a:srgbClr val="AA1414"/>
                </a:solidFill>
                <a:latin typeface="Segoe UI"/>
              </a:defRPr>
            </a:pPr>
            <a:r>
              <a:t>🛑 Destructive Erasure &amp; Halos</a:t>
            </a:r>
          </a:p>
          <a:p>
            <a:pPr>
              <a:defRPr sz="1300">
                <a:solidFill>
                  <a:srgbClr val="142438"/>
                </a:solidFill>
                <a:latin typeface="Segoe UI"/>
              </a:defRPr>
            </a:pPr>
            <a:r>
              <a:t>Standard photo erasers place solid patches or blurry rectangular smudges over text, permanently corrupting intricate background gradients, textures, and decorative vectors.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00200"/>
            <a:ext cx="3383280" cy="3566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400"/>
              </a:spcAft>
              <a:defRPr sz="1600" b="1">
                <a:solidFill>
                  <a:srgbClr val="004BA5"/>
                </a:solidFill>
                <a:latin typeface="Segoe UI"/>
              </a:defRPr>
            </a:pPr>
            <a:r>
              <a:t>🎨 Lost Typography &amp; Guesswork</a:t>
            </a:r>
          </a:p>
          <a:p>
            <a:pPr>
              <a:defRPr sz="1300">
                <a:solidFill>
                  <a:srgbClr val="142438"/>
                </a:solidFill>
                <a:latin typeface="Segoe UI"/>
              </a:defRPr>
            </a:pPr>
            <a:r>
              <a:t>Flattened pixels lose all font metadata. Users must manually guess font family, weight (300-900), slant angle, letter-spacing, and hex colors, producing amateurish results.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00200"/>
            <a:ext cx="3383280" cy="3566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400"/>
              </a:spcAft>
              <a:defRPr sz="1600" b="1">
                <a:solidFill>
                  <a:srgbClr val="061830"/>
                </a:solidFill>
                <a:latin typeface="Segoe UI"/>
              </a:defRPr>
            </a:pPr>
            <a:r>
              <a:t>☁️ Cloud Latency &amp; Privacy Risks</a:t>
            </a:r>
          </a:p>
          <a:p>
            <a:pPr>
              <a:defRPr sz="1300">
                <a:solidFill>
                  <a:srgbClr val="142438"/>
                </a:solidFill>
                <a:latin typeface="Segoe UI"/>
              </a:defRPr>
            </a:pPr>
            <a:r>
              <a:t>Cloud GenAI tools (Canva, Photoshop) require 3–8 seconds per edit and force sensitive contracts, IDs, and financial records onto remote servers with severe privacy risks.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94960"/>
            <a:ext cx="10728655" cy="1005840"/>
          </a:xfrm>
          <a:prstGeom prst="roundRect">
            <a:avLst/>
          </a:prstGeom>
          <a:solidFill>
            <a:srgbClr val="061830"/>
          </a:solidFill>
          <a:ln w="15240">
            <a:solidFill>
              <a:srgbClr val="061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82880"/>
          <a:lstStyle/>
          <a:p>
            <a:pPr algn="ctr">
              <a:defRPr sz="1350" b="1">
                <a:solidFill>
                  <a:srgbClr val="00FFFF"/>
                </a:solidFill>
                <a:latin typeface="Segoe UI"/>
              </a:defRPr>
            </a:pPr>
            <a:r>
              <a:t>THE REAL-WORLD IMPACT:  82% of small businesses lack original layered design files · 4,500ms avg cloud AI delay vs. &lt;40ms with Textract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6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04BA5"/>
                </a:solidFill>
                <a:latin typeface="Segoe UI"/>
              </a:defRPr>
            </a:pPr>
            <a:r>
              <a:t>PRODUCT INNOVATION</a:t>
            </a:r>
          </a:p>
          <a:p>
            <a:pPr>
              <a:spcAft>
                <a:spcPts val="200"/>
              </a:spcAft>
              <a:defRPr sz="2200" b="1">
                <a:solidFill>
                  <a:srgbClr val="061830"/>
                </a:solidFill>
                <a:latin typeface="Segoe UI"/>
              </a:defRPr>
            </a:pPr>
            <a:r>
              <a:t>The Solution: Intelligent In-Place Document Synthesis</a:t>
            </a:r>
          </a:p>
          <a:p>
            <a:pPr>
              <a:defRPr sz="1200">
                <a:solidFill>
                  <a:srgbClr val="142438"/>
                </a:solidFill>
                <a:latin typeface="Segoe UI"/>
              </a:defRPr>
            </a:pPr>
            <a:r>
              <a:t>Tap, type, and synthesize — Textract edits flattened text with pixel-perfect background preservation.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525780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spcAft>
                <a:spcPts val="800"/>
              </a:spcAft>
              <a:defRPr sz="1700" b="1">
                <a:solidFill>
                  <a:srgbClr val="004BA5"/>
                </a:solidFill>
                <a:latin typeface="Segoe UI"/>
              </a:defRPr>
            </a:pPr>
            <a:r>
              <a:t>1. Auto-Detection &amp; OCR</a:t>
            </a:r>
          </a:p>
          <a:p>
            <a:pPr>
              <a:defRPr sz="1300">
                <a:solidFill>
                  <a:srgbClr val="142438"/>
                </a:solidFill>
                <a:latin typeface="Segoe UI"/>
              </a:defRPr>
            </a:pPr>
            <a:r>
              <a:t>RapidOCR ONNX &amp; Mobile DBNet detect oriented and multi-scale text blocks in sub-30ms.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600200"/>
            <a:ext cx="525780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spcAft>
                <a:spcPts val="800"/>
              </a:spcAft>
              <a:defRPr sz="1700" b="1">
                <a:solidFill>
                  <a:srgbClr val="004BA5"/>
                </a:solidFill>
                <a:latin typeface="Segoe UI"/>
              </a:defRPr>
            </a:pPr>
            <a:r>
              <a:t>2. 11-D Typography Profiling</a:t>
            </a:r>
          </a:p>
          <a:p>
            <a:pPr>
              <a:defRPr sz="1300">
                <a:solidFill>
                  <a:srgbClr val="142438"/>
                </a:solidFill>
                <a:latin typeface="Segoe UI"/>
              </a:defRPr>
            </a:pPr>
            <a:r>
              <a:t>Deterministic CV extracts weight (300-900), slant angle, kerning, and median hex colors in &lt;2ms.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86200"/>
            <a:ext cx="525780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spcAft>
                <a:spcPts val="800"/>
              </a:spcAft>
              <a:defRPr sz="1700" b="1">
                <a:solidFill>
                  <a:srgbClr val="004BA5"/>
                </a:solidFill>
                <a:latin typeface="Segoe UI"/>
              </a:defRPr>
            </a:pPr>
            <a:r>
              <a:t>3. Smart Glyph Inpainting</a:t>
            </a:r>
          </a:p>
          <a:p>
            <a:pPr>
              <a:defRPr sz="1300">
                <a:solidFill>
                  <a:srgbClr val="142438"/>
                </a:solidFill>
                <a:latin typeface="Segoe UI"/>
              </a:defRPr>
            </a:pPr>
            <a:r>
              <a:t>OpenCV Telea fast marching algorithm inpaints only dilated character ink strokes; zero background loss.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886200"/>
            <a:ext cx="525780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spcAft>
                <a:spcPts val="800"/>
              </a:spcAft>
              <a:defRPr sz="1700" b="1">
                <a:solidFill>
                  <a:srgbClr val="004BA5"/>
                </a:solidFill>
                <a:latin typeface="Segoe UI"/>
              </a:defRPr>
            </a:pPr>
            <a:r>
              <a:t>4. Interactive 2D Canvas Engine</a:t>
            </a:r>
          </a:p>
          <a:p>
            <a:pPr>
              <a:defRPr sz="1300">
                <a:solidFill>
                  <a:srgbClr val="142438"/>
                </a:solidFill>
                <a:latin typeface="Segoe UI"/>
              </a:defRPr>
            </a:pPr>
            <a:r>
              <a:t>8-way directional resize handles, move transform, and live typography controls with dynamic letter-spacing.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6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04BA5"/>
                </a:solidFill>
                <a:latin typeface="Segoe UI"/>
              </a:defRPr>
            </a:pPr>
            <a:r>
              <a:t>SYSTEM ENGINEERING</a:t>
            </a:r>
          </a:p>
          <a:p>
            <a:pPr>
              <a:spcAft>
                <a:spcPts val="200"/>
              </a:spcAft>
              <a:defRPr sz="2200" b="1">
                <a:solidFill>
                  <a:srgbClr val="061830"/>
                </a:solidFill>
                <a:latin typeface="Segoe UI"/>
              </a:defRPr>
            </a:pPr>
            <a:r>
              <a:t>Architectural Pipeline: From Raw Pixels to Vector Canvas</a:t>
            </a:r>
          </a:p>
          <a:p>
            <a:pPr>
              <a:defRPr sz="1200">
                <a:solidFill>
                  <a:srgbClr val="142438"/>
                </a:solidFill>
                <a:latin typeface="Segoe UI"/>
              </a:defRPr>
            </a:pPr>
            <a:r>
              <a:t>Hybrid on-device edge execution combining ONNX neural networks, OpenCV vision, and HTML5 Canvas.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39496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00" b="1">
                <a:solidFill>
                  <a:srgbClr val="004BA5"/>
                </a:solidFill>
                <a:latin typeface="Segoe UI"/>
              </a:defRPr>
            </a:pPr>
            <a:r>
              <a:t>1. Input &amp; Normalization</a:t>
            </a:r>
          </a:p>
          <a:p>
            <a:pPr>
              <a:defRPr sz="1050">
                <a:solidFill>
                  <a:srgbClr val="142438"/>
                </a:solidFill>
                <a:latin typeface="Segoe UI"/>
              </a:defRPr>
            </a:pPr>
            <a:r>
              <a:t>Camera grab or visual picker with EXIF rotation correction &amp; scaled downsampling.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14600"/>
            <a:ext cx="539496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4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00" b="1">
                <a:solidFill>
                  <a:srgbClr val="004BA5"/>
                </a:solidFill>
                <a:latin typeface="Segoe UI"/>
              </a:defRPr>
            </a:pPr>
            <a:r>
              <a:t>2. Edge Detection (ONNX / NNAPI)</a:t>
            </a:r>
          </a:p>
          <a:p>
            <a:pPr>
              <a:defRPr sz="1050">
                <a:solidFill>
                  <a:srgbClr val="142438"/>
                </a:solidFill>
                <a:latin typeface="Segoe UI"/>
              </a:defRPr>
            </a:pPr>
            <a:r>
              <a:t>PP-OCRv5 DBNet INT8 offloaded to Snapdragon Hexagon Tensor NPU via NNAPI.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474720"/>
            <a:ext cx="539496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00" b="1">
                <a:solidFill>
                  <a:srgbClr val="004BA5"/>
                </a:solidFill>
                <a:latin typeface="Segoe UI"/>
              </a:defRPr>
            </a:pPr>
            <a:r>
              <a:t>3. Deep Typography Profiler</a:t>
            </a:r>
          </a:p>
          <a:p>
            <a:pPr>
              <a:defRPr sz="1050">
                <a:solidFill>
                  <a:srgbClr val="142438"/>
                </a:solidFill>
                <a:latin typeface="Segoe UI"/>
              </a:defRPr>
            </a:pPr>
            <a:r>
              <a:t>Otsu binarization, Euclidean Distance Transform (weight), and Hough Line tilt.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434840"/>
            <a:ext cx="539496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00" b="1">
                <a:solidFill>
                  <a:srgbClr val="004BA5"/>
                </a:solidFill>
                <a:latin typeface="Segoe UI"/>
              </a:defRPr>
            </a:pPr>
            <a:r>
              <a:t>4. Smart Inpainting Engine</a:t>
            </a:r>
          </a:p>
          <a:p>
            <a:pPr>
              <a:defRPr sz="1050">
                <a:solidFill>
                  <a:srgbClr val="142438"/>
                </a:solidFill>
                <a:latin typeface="Segoe UI"/>
              </a:defRPr>
            </a:pPr>
            <a:r>
              <a:t>Fast Marching Method (Telea) dilated ROI inpainting preserves gradients.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394960"/>
            <a:ext cx="539496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00" b="1">
                <a:solidFill>
                  <a:srgbClr val="004BA5"/>
                </a:solidFill>
                <a:latin typeface="Segoe UI"/>
              </a:defRPr>
            </a:pPr>
            <a:r>
              <a:t>5. Interactive Vector Canvas</a:t>
            </a:r>
          </a:p>
          <a:p>
            <a:pPr>
              <a:defRPr sz="1050">
                <a:solidFill>
                  <a:srgbClr val="142438"/>
                </a:solidFill>
                <a:latin typeface="Segoe UI"/>
              </a:defRPr>
            </a:pPr>
            <a:r>
              <a:t>Dynamic HTML5 2D renderer with 8-way resize anchors, move handles &amp; undo stack.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554480"/>
            <a:ext cx="5029200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61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creenshot_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600200"/>
            <a:ext cx="4937760" cy="334493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0" y="59436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61830"/>
                </a:solidFill>
                <a:latin typeface="Segoe UI"/>
              </a:defRPr>
            </a:pPr>
            <a:r>
              <a:t>Figure 1: Textract End-to-End Live System Interface (Document Canvas &amp; Profiler)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6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04BA5"/>
                </a:solidFill>
                <a:latin typeface="Segoe UI"/>
              </a:defRPr>
            </a:pPr>
            <a:r>
              <a:t>PROPRIETARY COMPUTER VISION</a:t>
            </a:r>
          </a:p>
          <a:p>
            <a:pPr>
              <a:spcAft>
                <a:spcPts val="200"/>
              </a:spcAft>
              <a:defRPr sz="2200" b="1">
                <a:solidFill>
                  <a:srgbClr val="061830"/>
                </a:solidFill>
                <a:latin typeface="Segoe UI"/>
              </a:defRPr>
            </a:pPr>
            <a:r>
              <a:t>Deep Typography Profiler: Extracting 11 Style Dimensions in &lt;2ms</a:t>
            </a:r>
          </a:p>
          <a:p>
            <a:pPr>
              <a:defRPr sz="1200">
                <a:solidFill>
                  <a:srgbClr val="142438"/>
                </a:solidFill>
                <a:latin typeface="Segoe UI"/>
              </a:defRPr>
            </a:pPr>
            <a:r>
              <a:t>Standard OCR outputs plain strings. Textract extracts full visual typography without source fonts.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621792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400" b="1">
                <a:solidFill>
                  <a:srgbClr val="004BA5"/>
                </a:solidFill>
                <a:latin typeface="Segoe UI"/>
              </a:defRPr>
            </a:pPr>
            <a:r>
              <a:t>Median Hex Color Sampling</a:t>
            </a:r>
          </a:p>
          <a:p>
            <a:pPr>
              <a:defRPr sz="1100">
                <a:solidFill>
                  <a:srgbClr val="142438"/>
                </a:solidFill>
                <a:latin typeface="Segoe UI"/>
              </a:defRPr>
            </a:pPr>
            <a:r>
              <a:t>Samples foreground RGB across Otsu ink pixels; ring perimeter sampling guarantees contrast ratio.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97480"/>
            <a:ext cx="621792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400" b="1">
                <a:solidFill>
                  <a:srgbClr val="004BA5"/>
                </a:solidFill>
                <a:latin typeface="Segoe UI"/>
              </a:defRPr>
            </a:pPr>
            <a:r>
              <a:t>Font Weight Profiling (300-900)</a:t>
            </a:r>
          </a:p>
          <a:p>
            <a:pPr>
              <a:defRPr sz="1100">
                <a:solidFill>
                  <a:srgbClr val="142438"/>
                </a:solidFill>
                <a:latin typeface="Segoe UI"/>
              </a:defRPr>
            </a:pPr>
            <a:r>
              <a:t>Euclidean Distance Transform (D(x,y)) computes stroke radius normalized against bounding box height.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621792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400" b="1">
                <a:solidFill>
                  <a:srgbClr val="004BA5"/>
                </a:solidFill>
                <a:latin typeface="Segoe UI"/>
              </a:defRPr>
            </a:pPr>
            <a:r>
              <a:t>Italic Slant via Hough Transform</a:t>
            </a:r>
          </a:p>
          <a:p>
            <a:pPr>
              <a:defRPr sz="1100">
                <a:solidFill>
                  <a:srgbClr val="142438"/>
                </a:solidFill>
                <a:latin typeface="Segoe UI"/>
              </a:defRPr>
            </a:pPr>
            <a:r>
              <a:t>Probabilistic Hough Line Transform (cv2.HoughLinesP) measures stroke angle theta for exact tilt shearing.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983480"/>
            <a:ext cx="621792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400" b="1">
                <a:solidFill>
                  <a:srgbClr val="004BA5"/>
                </a:solidFill>
                <a:latin typeface="Segoe UI"/>
              </a:defRPr>
            </a:pPr>
            <a:r>
              <a:t>Dynamic Spacing &amp; Kerning</a:t>
            </a:r>
          </a:p>
          <a:p>
            <a:pPr>
              <a:defRPr sz="1100">
                <a:solidFill>
                  <a:srgbClr val="142438"/>
                </a:solidFill>
                <a:latin typeface="Segoe UI"/>
              </a:defRPr>
            </a:pPr>
            <a:r>
              <a:t>Computes inter-character pitch and dynamic letter-spacing; auto-scales font size to fit boxes perfectly.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554480"/>
            <a:ext cx="4144975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61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creenshot_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645920"/>
            <a:ext cx="3522527" cy="40233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0" y="5943600"/>
            <a:ext cx="41449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61830"/>
                </a:solidFill>
                <a:latin typeface="Segoe UI"/>
              </a:defRPr>
            </a:pPr>
            <a:r>
              <a:t>Figure 2: Textract Auto-Extracted Typography Attributes Panel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6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04BA5"/>
                </a:solidFill>
                <a:latin typeface="Segoe UI"/>
              </a:defRPr>
            </a:pPr>
            <a:r>
              <a:t>CONTEXT-PRESERVING RECONSTRUCTION</a:t>
            </a:r>
          </a:p>
          <a:p>
            <a:pPr>
              <a:spcAft>
                <a:spcPts val="200"/>
              </a:spcAft>
              <a:defRPr sz="2200" b="1">
                <a:solidFill>
                  <a:srgbClr val="061830"/>
                </a:solidFill>
                <a:latin typeface="Segoe UI"/>
              </a:defRPr>
            </a:pPr>
            <a:r>
              <a:t>Smart Glyph Inpainting: Flawless Texture Reconstruction</a:t>
            </a:r>
          </a:p>
          <a:p>
            <a:pPr>
              <a:defRPr sz="1200">
                <a:solidFill>
                  <a:srgbClr val="142438"/>
                </a:solidFill>
                <a:latin typeface="Segoe UI"/>
              </a:defRPr>
            </a:pPr>
            <a:r>
              <a:t>OpenCV Telea Fast Marching Method operating exclusively on dilated character ink strokes.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02920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spcAft>
                <a:spcPts val="400"/>
              </a:spcAft>
              <a:defRPr sz="1600" b="1">
                <a:solidFill>
                  <a:srgbClr val="AA1414"/>
                </a:solidFill>
                <a:latin typeface="Segoe UI"/>
              </a:defRPr>
            </a:pPr>
            <a:r>
              <a:t>Why Rectangle Erasers Fail:</a:t>
            </a:r>
          </a:p>
          <a:p>
            <a:pPr>
              <a:spcAft>
                <a:spcPts val="1000"/>
              </a:spcAft>
              <a:defRPr sz="1150">
                <a:solidFill>
                  <a:srgbClr val="142438"/>
                </a:solidFill>
                <a:latin typeface="Segoe UI"/>
              </a:defRPr>
            </a:pPr>
            <a:r>
              <a:t>Traditional tools wipe entire rectangular bounding boxes, destroying underlying wood grains, mesh gradients, or decorative lines.</a:t>
            </a:r>
            <a:br/>
          </a:p>
          <a:p>
            <a:pPr>
              <a:spcAft>
                <a:spcPts val="600"/>
              </a:spcAft>
              <a:defRPr sz="1600" b="1">
                <a:solidFill>
                  <a:srgbClr val="004BA5"/>
                </a:solidFill>
                <a:latin typeface="Segoe UI"/>
              </a:defRPr>
            </a:pPr>
            <a:r>
              <a:t>The Textract Glyph Inpainting Advantage:</a:t>
            </a:r>
          </a:p>
          <a:p>
            <a:pPr>
              <a:spcAft>
                <a:spcPts val="400"/>
              </a:spcAft>
              <a:defRPr sz="1100">
                <a:solidFill>
                  <a:srgbClr val="061830"/>
                </a:solidFill>
                <a:latin typeface="Segoe UI"/>
              </a:defRPr>
            </a:pPr>
            <a:r>
              <a:t>1. Precise Ink Segmentation: Otsu thresholding creates an exact mask of character strokes.</a:t>
            </a:r>
          </a:p>
          <a:p>
            <a:pPr>
              <a:spcAft>
                <a:spcPts val="400"/>
              </a:spcAft>
              <a:defRPr sz="1100">
                <a:solidFill>
                  <a:srgbClr val="061830"/>
                </a:solidFill>
                <a:latin typeface="Segoe UI"/>
              </a:defRPr>
            </a:pPr>
            <a:r>
              <a:t>2. 4px Elliptical Dilation: Seamlessly covers anti-aliased font boundaries without bleeding.</a:t>
            </a:r>
          </a:p>
          <a:p>
            <a:pPr>
              <a:spcAft>
                <a:spcPts val="400"/>
              </a:spcAft>
              <a:defRPr sz="1100">
                <a:solidFill>
                  <a:srgbClr val="061830"/>
                </a:solidFill>
                <a:latin typeface="Segoe UI"/>
              </a:defRPr>
            </a:pPr>
            <a:r>
              <a:t>3. Telea Fast Marching (&lt;15ms): Propagates outer boundary texture inward along level sets.</a:t>
            </a:r>
          </a:p>
          <a:p>
            <a:pPr>
              <a:spcAft>
                <a:spcPts val="400"/>
              </a:spcAft>
              <a:defRPr sz="1100">
                <a:solidFill>
                  <a:srgbClr val="061830"/>
                </a:solidFill>
                <a:latin typeface="Segoe UI"/>
              </a:defRPr>
            </a:pPr>
            <a:r>
              <a:t>4. Original Footprint Lock (originalBox): Background erasure is permanently anchored to the original detected location, even when the text box is dragged elsewhere!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554480"/>
            <a:ext cx="5394960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61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creenshot_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600200"/>
            <a:ext cx="5303520" cy="298109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35040" y="594360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61830"/>
                </a:solidFill>
                <a:latin typeface="Segoe UI"/>
              </a:defRPr>
            </a:pPr>
            <a:r>
              <a:t>Figure 3: Textract Before/After Split Comparison Showing Pixel-Perfect Background Retention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6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04BA5"/>
                </a:solidFill>
                <a:latin typeface="Segoe UI"/>
              </a:defRPr>
            </a:pPr>
            <a:r>
              <a:t>INTERACTIVE DESIGN &amp; UX</a:t>
            </a:r>
          </a:p>
          <a:p>
            <a:pPr>
              <a:spcAft>
                <a:spcPts val="200"/>
              </a:spcAft>
              <a:defRPr sz="2200" b="1">
                <a:solidFill>
                  <a:srgbClr val="061830"/>
                </a:solidFill>
                <a:latin typeface="Segoe UI"/>
              </a:defRPr>
            </a:pPr>
            <a:r>
              <a:t>Complete Spatial Control: 8-Way Resizing &amp; Move Transform</a:t>
            </a:r>
          </a:p>
          <a:p>
            <a:pPr>
              <a:defRPr sz="1200">
                <a:solidFill>
                  <a:srgbClr val="142438"/>
                </a:solidFill>
                <a:latin typeface="Segoe UI"/>
              </a:defRPr>
            </a:pPr>
            <a:r>
              <a:t>Intuitive canvas interaction: edit text, drag locations, and resize bounding boxes with sub-pixel precision.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6692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spcAft>
                <a:spcPts val="200"/>
              </a:spcAft>
              <a:defRPr sz="1500" b="1">
                <a:solidFill>
                  <a:srgbClr val="004BA5"/>
                </a:solidFill>
                <a:latin typeface="Segoe UI"/>
              </a:defRPr>
            </a:pPr>
            <a:r>
              <a:t>8 Directional Handles</a:t>
            </a:r>
          </a:p>
          <a:p>
            <a:pPr>
              <a:spcAft>
                <a:spcPts val="1000"/>
              </a:spcAft>
              <a:defRPr sz="1100">
                <a:solidFill>
                  <a:srgbClr val="142438"/>
                </a:solidFill>
                <a:latin typeface="Segoe UI"/>
              </a:defRPr>
            </a:pPr>
            <a:r>
              <a:t>Top, Bottom, Left, Right, and 4 corner handles allow granular bounding box expansion to accommodate longer headlines without clipping.</a:t>
            </a:r>
          </a:p>
          <a:p>
            <a:pPr>
              <a:spcAft>
                <a:spcPts val="200"/>
              </a:spcAft>
              <a:defRPr sz="1500" b="1">
                <a:solidFill>
                  <a:srgbClr val="004BA5"/>
                </a:solidFill>
                <a:latin typeface="Segoe UI"/>
              </a:defRPr>
            </a:pPr>
            <a:r>
              <a:t>Dedicated Move Anchor</a:t>
            </a:r>
          </a:p>
          <a:p>
            <a:pPr>
              <a:spcAft>
                <a:spcPts val="1000"/>
              </a:spcAft>
              <a:defRPr sz="1100">
                <a:solidFill>
                  <a:srgbClr val="142438"/>
                </a:solidFill>
                <a:latin typeface="Segoe UI"/>
              </a:defRPr>
            </a:pPr>
            <a:r>
              <a:t>Top-mounted anchor allows fluid dragging across the canvas without accidental resizing, separating positioning from dimension control.</a:t>
            </a:r>
          </a:p>
          <a:p>
            <a:pPr>
              <a:spcAft>
                <a:spcPts val="200"/>
              </a:spcAft>
              <a:defRPr sz="1500" b="1">
                <a:solidFill>
                  <a:srgbClr val="004BA5"/>
                </a:solidFill>
                <a:latin typeface="Segoe UI"/>
              </a:defRPr>
            </a:pPr>
            <a:r>
              <a:t>In-Place Selection Appearance</a:t>
            </a:r>
          </a:p>
          <a:p>
            <a:pPr>
              <a:spcAft>
                <a:spcPts val="1000"/>
              </a:spcAft>
              <a:defRPr sz="1100">
                <a:solidFill>
                  <a:srgbClr val="142438"/>
                </a:solidFill>
                <a:latin typeface="Segoe UI"/>
              </a:defRPr>
            </a:pPr>
            <a:r>
              <a:t>The active editor matches the exact font size, color, and line height of document text — completely eliminating oversized disruptive overlays.</a:t>
            </a:r>
          </a:p>
          <a:p>
            <a:pPr>
              <a:spcAft>
                <a:spcPts val="200"/>
              </a:spcAft>
              <a:defRPr sz="1500" b="1">
                <a:solidFill>
                  <a:srgbClr val="004BA5"/>
                </a:solidFill>
                <a:latin typeface="Segoe UI"/>
              </a:defRPr>
            </a:pPr>
            <a:r>
              <a:t>Scale-to-Fit Engine</a:t>
            </a:r>
          </a:p>
          <a:p>
            <a:pPr>
              <a:spcAft>
                <a:spcPts val="1000"/>
              </a:spcAft>
              <a:defRPr sz="1100">
                <a:solidFill>
                  <a:srgbClr val="142438"/>
                </a:solidFill>
                <a:latin typeface="Segoe UI"/>
              </a:defRPr>
            </a:pPr>
            <a:r>
              <a:t>Automatically scales font size and letter-spacing proportionally when the user types longer replacement strings, keeping layout balanced.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1554480"/>
            <a:ext cx="47548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61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creenshot_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91640"/>
            <a:ext cx="3947112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75120" y="598932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61830"/>
                </a:solidFill>
                <a:latin typeface="Segoe UI"/>
              </a:defRPr>
            </a:pPr>
            <a:r>
              <a:t>Figure 4: 8-Directional Resize Handles &amp; In-Place Inline Editor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6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04BA5"/>
                </a:solidFill>
                <a:latin typeface="Segoe UI"/>
              </a:defRPr>
            </a:pPr>
            <a:r>
              <a:t>COMPREHENSIVE FEATURE MATRIX</a:t>
            </a:r>
          </a:p>
          <a:p>
            <a:pPr>
              <a:spcAft>
                <a:spcPts val="200"/>
              </a:spcAft>
              <a:defRPr sz="2200" b="1">
                <a:solidFill>
                  <a:srgbClr val="061830"/>
                </a:solidFill>
                <a:latin typeface="Segoe UI"/>
              </a:defRPr>
            </a:pPr>
            <a:r>
              <a:t>Built for Real-World Productivity: Enterprise Toolset</a:t>
            </a:r>
          </a:p>
          <a:p>
            <a:pPr>
              <a:defRPr sz="1200">
                <a:solidFill>
                  <a:srgbClr val="142438"/>
                </a:solidFill>
                <a:latin typeface="Segoe UI"/>
              </a:defRPr>
            </a:pPr>
            <a:r>
              <a:t>Beyond a proof-of-concept — Textract delivers a robust, production-ready feature matrix.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525780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spcAft>
                <a:spcPts val="800"/>
              </a:spcAft>
              <a:defRPr sz="1700" b="1">
                <a:solidFill>
                  <a:srgbClr val="004BA5"/>
                </a:solidFill>
                <a:latin typeface="Segoe UI"/>
              </a:defRPr>
            </a:pPr>
            <a:r>
              <a:t>Before/After Split Slider</a:t>
            </a:r>
          </a:p>
          <a:p>
            <a:pPr>
              <a:defRPr sz="1200">
                <a:solidFill>
                  <a:srgbClr val="142438"/>
                </a:solidFill>
                <a:latin typeface="Segoe UI"/>
              </a:defRPr>
            </a:pPr>
            <a:r>
              <a:t>Draggable interactive comparison divider.</a:t>
            </a:r>
            <a:br/>
            <a:r>
              <a:t>Provides instant visual proof of background pixel retention and seamless blending.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600200"/>
            <a:ext cx="525780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spcAft>
                <a:spcPts val="800"/>
              </a:spcAft>
              <a:defRPr sz="1700" b="1">
                <a:solidFill>
                  <a:srgbClr val="061830"/>
                </a:solidFill>
                <a:latin typeface="Segoe UI"/>
              </a:defRPr>
            </a:pPr>
            <a:r>
              <a:t>Draw-to-Edit Mode</a:t>
            </a:r>
          </a:p>
          <a:p>
            <a:pPr>
              <a:defRPr sz="1200">
                <a:solidFill>
                  <a:srgbClr val="142438"/>
                </a:solidFill>
                <a:latin typeface="Segoe UI"/>
              </a:defRPr>
            </a:pPr>
            <a:r>
              <a:t>Manual bounding box selection for artistic, un-detected, or stylized cursive text regions with instant inpainting.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5780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spcAft>
                <a:spcPts val="800"/>
              </a:spcAft>
              <a:defRPr sz="1700" b="1">
                <a:solidFill>
                  <a:srgbClr val="004BA5"/>
                </a:solidFill>
                <a:latin typeface="Segoe UI"/>
              </a:defRPr>
            </a:pPr>
            <a:r>
              <a:t>Batch Multi-Document Edit</a:t>
            </a:r>
          </a:p>
          <a:p>
            <a:pPr>
              <a:defRPr sz="1200">
                <a:solidFill>
                  <a:srgbClr val="142438"/>
                </a:solidFill>
                <a:latin typeface="Segoe UI"/>
              </a:defRPr>
            </a:pPr>
            <a:r>
              <a:t>Global find-and-replace dialog across multiple flyers simultaneously; update prices &amp; event dates in seconds.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931920"/>
            <a:ext cx="525780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spcAft>
                <a:spcPts val="800"/>
              </a:spcAft>
              <a:defRPr sz="1700" b="1">
                <a:solidFill>
                  <a:srgbClr val="061830"/>
                </a:solidFill>
                <a:latin typeface="Segoe UI"/>
              </a:defRPr>
            </a:pPr>
            <a:r>
              <a:t>Multi-Level Undo/Redo</a:t>
            </a:r>
          </a:p>
          <a:p>
            <a:pPr>
              <a:defRPr sz="1200">
                <a:solidFill>
                  <a:srgbClr val="142438"/>
                </a:solidFill>
                <a:latin typeface="Segoe UI"/>
              </a:defRPr>
            </a:pPr>
            <a:r>
              <a:t>Non-destructive EditHistoryManager stack.</a:t>
            </a:r>
            <a:br/>
            <a:r>
              <a:t>Step-by-step undo/redo with instant 1-click restore to original document state.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6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04BA5"/>
                </a:solidFill>
                <a:latin typeface="Segoe UI"/>
              </a:defRPr>
            </a:pPr>
            <a:r>
              <a:t>EMPIRICAL VALIDATION &amp; BENCHMARKS</a:t>
            </a:r>
          </a:p>
          <a:p>
            <a:pPr>
              <a:spcAft>
                <a:spcPts val="200"/>
              </a:spcAft>
              <a:defRPr sz="2200" b="1">
                <a:solidFill>
                  <a:srgbClr val="061830"/>
                </a:solidFill>
                <a:latin typeface="Segoe UI"/>
              </a:defRPr>
            </a:pPr>
            <a:r>
              <a:t>Performance: 100x Faster Than Cloud Generative AI</a:t>
            </a:r>
          </a:p>
          <a:p>
            <a:pPr>
              <a:defRPr sz="1200">
                <a:solidFill>
                  <a:srgbClr val="142438"/>
                </a:solidFill>
                <a:latin typeface="Segoe UI"/>
              </a:defRPr>
            </a:pPr>
            <a:r>
              <a:t>Sub-40ms turnaround vs. multi-second cloud queues and destructive diffusion hallucinations.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00200"/>
          <a:ext cx="1072865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651760"/>
                <a:gridCol w="2651760"/>
                <a:gridCol w="2864815"/>
              </a:tblGrid>
              <a:tr h="587828"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Metric / Scenario</a:t>
                      </a:r>
                    </a:p>
                  </a:txBody>
                  <a:tcPr>
                    <a:solidFill>
                      <a:srgbClr val="0618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Cloud GenAI (Canva, Adobe)</a:t>
                      </a:r>
                    </a:p>
                  </a:txBody>
                  <a:tcPr>
                    <a:solidFill>
                      <a:srgbClr val="0618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Desktop Photoshop / GIMP</a:t>
                      </a:r>
                    </a:p>
                  </a:txBody>
                  <a:tcPr>
                    <a:solidFill>
                      <a:srgbClr val="0618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00FFFF"/>
                          </a:solidFill>
                          <a:latin typeface="Segoe UI"/>
                        </a:defRPr>
                      </a:pPr>
                      <a:r>
                        <a:t>Textract (Our System)</a:t>
                      </a:r>
                    </a:p>
                  </a:txBody>
                  <a:tcPr>
                    <a:solidFill>
                      <a:srgbClr val="004BA5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61830"/>
                          </a:solidFill>
                          <a:latin typeface="Segoe UI"/>
                        </a:defRPr>
                      </a:pPr>
                      <a:r>
                        <a:t>End-to-End Latency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42438"/>
                          </a:solidFill>
                          <a:latin typeface="Segoe UI"/>
                        </a:defRPr>
                      </a:pPr>
                      <a:r>
                        <a:t>3,000 – 6,000 ms (Queue delay)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42438"/>
                          </a:solidFill>
                          <a:latin typeface="Segoe UI"/>
                        </a:defRPr>
                      </a:pPr>
                      <a:r>
                        <a:t>180,000 ms (2-3 min manual)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0A7D41"/>
                          </a:solidFill>
                          <a:latin typeface="Segoe UI"/>
                        </a:defRPr>
                      </a:pPr>
                      <a:r>
                        <a:t>&lt; 40 ms (Real-time instant)</a:t>
                      </a:r>
                    </a:p>
                  </a:txBody>
                  <a:tcPr>
                    <a:solidFill>
                      <a:srgbClr val="C6F5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61830"/>
                          </a:solidFill>
                          <a:latin typeface="Segoe UI"/>
                        </a:defRPr>
                      </a:pPr>
                      <a:r>
                        <a:t>Inpainting / Erasure</a:t>
                      </a:r>
                    </a:p>
                  </a:txBody>
                  <a:tcPr>
                    <a:solidFill>
                      <a:srgbClr val="E4F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42438"/>
                          </a:solidFill>
                          <a:latin typeface="Segoe UI"/>
                        </a:defRPr>
                      </a:pPr>
                      <a:r>
                        <a:t>2,000 – 4,000 ms (Diffusion)</a:t>
                      </a:r>
                    </a:p>
                  </a:txBody>
                  <a:tcPr>
                    <a:solidFill>
                      <a:srgbClr val="E4F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42438"/>
                          </a:solidFill>
                          <a:latin typeface="Segoe UI"/>
                        </a:defRPr>
                      </a:pPr>
                      <a:r>
                        <a:t>Manual clone stamping</a:t>
                      </a:r>
                    </a:p>
                  </a:txBody>
                  <a:tcPr>
                    <a:solidFill>
                      <a:srgbClr val="E4F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0A7D41"/>
                          </a:solidFill>
                          <a:latin typeface="Segoe UI"/>
                        </a:defRPr>
                      </a:pPr>
                      <a:r>
                        <a:t>~14 ms (OpenCV Telea)</a:t>
                      </a:r>
                    </a:p>
                  </a:txBody>
                  <a:tcPr>
                    <a:solidFill>
                      <a:srgbClr val="C6F5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61830"/>
                          </a:solidFill>
                          <a:latin typeface="Segoe UI"/>
                        </a:defRPr>
                      </a:pPr>
                      <a:r>
                        <a:t>Data Privacy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42438"/>
                          </a:solidFill>
                          <a:latin typeface="Segoe UI"/>
                        </a:defRPr>
                      </a:pPr>
                      <a:r>
                        <a:t>Uploaded to external cloud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42438"/>
                          </a:solidFill>
                          <a:latin typeface="Segoe UI"/>
                        </a:defRPr>
                      </a:pPr>
                      <a:r>
                        <a:t>Local manual edits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0A7D41"/>
                          </a:solidFill>
                          <a:latin typeface="Segoe UI"/>
                        </a:defRPr>
                      </a:pPr>
                      <a:r>
                        <a:t>100% Sealed On-Device</a:t>
                      </a:r>
                    </a:p>
                  </a:txBody>
                  <a:tcPr>
                    <a:solidFill>
                      <a:srgbClr val="C6F5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61830"/>
                          </a:solidFill>
                          <a:latin typeface="Segoe UI"/>
                        </a:defRPr>
                      </a:pPr>
                      <a:r>
                        <a:t>Cost per Edit</a:t>
                      </a:r>
                    </a:p>
                  </a:txBody>
                  <a:tcPr>
                    <a:solidFill>
                      <a:srgbClr val="E4F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42438"/>
                          </a:solidFill>
                          <a:latin typeface="Segoe UI"/>
                        </a:defRPr>
                      </a:pPr>
                      <a:r>
                        <a:t>$0.03 – $0.08 per API call</a:t>
                      </a:r>
                    </a:p>
                  </a:txBody>
                  <a:tcPr>
                    <a:solidFill>
                      <a:srgbClr val="E4F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42438"/>
                          </a:solidFill>
                          <a:latin typeface="Segoe UI"/>
                        </a:defRPr>
                      </a:pPr>
                      <a:r>
                        <a:t>$20+/month subscription</a:t>
                      </a:r>
                    </a:p>
                  </a:txBody>
                  <a:tcPr>
                    <a:solidFill>
                      <a:srgbClr val="E4F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0A7D41"/>
                          </a:solidFill>
                          <a:latin typeface="Segoe UI"/>
                        </a:defRPr>
                      </a:pPr>
                      <a:r>
                        <a:t>$0.00 (Zero marginal cost)</a:t>
                      </a:r>
                    </a:p>
                  </a:txBody>
                  <a:tcPr>
                    <a:solidFill>
                      <a:srgbClr val="C6F5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61830"/>
                          </a:solidFill>
                          <a:latin typeface="Segoe UI"/>
                        </a:defRPr>
                      </a:pPr>
                      <a:r>
                        <a:t>Memory Footprint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42438"/>
                          </a:solidFill>
                          <a:latin typeface="Segoe UI"/>
                        </a:defRPr>
                      </a:pPr>
                      <a:r>
                        <a:t>Cloud GPU server clusters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42438"/>
                          </a:solidFill>
                          <a:latin typeface="Segoe UI"/>
                        </a:defRPr>
                      </a:pPr>
                      <a:r>
                        <a:t>250 MB – 1 GB RAM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004BA5"/>
                          </a:solidFill>
                          <a:latin typeface="Segoe UI"/>
                        </a:defRPr>
                      </a:pPr>
                      <a:r>
                        <a:t>&lt; 45 MB RAM (INT8 4.2MB)</a:t>
                      </a:r>
                    </a:p>
                  </a:txBody>
                  <a:tcPr>
                    <a:solidFill>
                      <a:srgbClr val="C6F5FF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61830"/>
                          </a:solidFill>
                          <a:latin typeface="Segoe UI"/>
                        </a:defRPr>
                      </a:pPr>
                      <a:r>
                        <a:t>Hallucination Risk</a:t>
                      </a:r>
                    </a:p>
                  </a:txBody>
                  <a:tcPr>
                    <a:solidFill>
                      <a:srgbClr val="E4F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42438"/>
                          </a:solidFill>
                          <a:latin typeface="Segoe UI"/>
                        </a:defRPr>
                      </a:pPr>
                      <a:r>
                        <a:t>High (fake logos, warped text)</a:t>
                      </a:r>
                    </a:p>
                  </a:txBody>
                  <a:tcPr>
                    <a:solidFill>
                      <a:srgbClr val="E4F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42438"/>
                          </a:solidFill>
                          <a:latin typeface="Segoe UI"/>
                        </a:defRPr>
                      </a:pPr>
                      <a:r>
                        <a:t>Zero (human manual)</a:t>
                      </a:r>
                    </a:p>
                  </a:txBody>
                  <a:tcPr>
                    <a:solidFill>
                      <a:srgbClr val="E4F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0A7D41"/>
                          </a:solidFill>
                          <a:latin typeface="Segoe UI"/>
                        </a:defRPr>
                      </a:pPr>
                      <a:r>
                        <a:t>0% (Deterministic CV)</a:t>
                      </a:r>
                    </a:p>
                  </a:txBody>
                  <a:tcPr>
                    <a:solidFill>
                      <a:srgbClr val="C6F5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5852160"/>
            <a:ext cx="10728655" cy="594360"/>
          </a:xfrm>
          <a:prstGeom prst="roundRect">
            <a:avLst/>
          </a:prstGeom>
          <a:solidFill>
            <a:srgbClr val="061830"/>
          </a:solidFill>
          <a:ln w="15240">
            <a:solidFill>
              <a:srgbClr val="061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09728"/>
          <a:lstStyle/>
          <a:p>
            <a:pPr algn="ctr">
              <a:defRPr sz="1150" b="1">
                <a:solidFill>
                  <a:srgbClr val="00FFFF"/>
                </a:solidFill>
                <a:latin typeface="Segoe UI"/>
              </a:defRPr>
            </a:pPr>
            <a:r>
              <a:t>⚡ SUMMARY: Textract delivers 100x lower latency, 0% hallucination rate, and zero subscription costs.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6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04BA5"/>
                </a:solidFill>
                <a:latin typeface="Segoe UI"/>
              </a:defRPr>
            </a:pPr>
            <a:r>
              <a:t>TARGET HARDWARE &amp; OPTIMIZATION</a:t>
            </a:r>
          </a:p>
          <a:p>
            <a:pPr>
              <a:spcAft>
                <a:spcPts val="200"/>
              </a:spcAft>
              <a:defRPr sz="2200" b="1">
                <a:solidFill>
                  <a:srgbClr val="061830"/>
                </a:solidFill>
                <a:latin typeface="Segoe UI"/>
              </a:defRPr>
            </a:pPr>
            <a:r>
              <a:t>Engineered for iQOO: Qualcomm Hexagon NPU Offload</a:t>
            </a:r>
          </a:p>
          <a:p>
            <a:pPr>
              <a:defRPr sz="1200">
                <a:solidFill>
                  <a:srgbClr val="142438"/>
                </a:solidFill>
                <a:latin typeface="Segoe UI"/>
              </a:defRPr>
            </a:pPr>
            <a:r>
              <a:t>Leveraging Snapdragon 8 Gen 3 / 8s Gen 3 tensor accelerators via ONNX Mobile NNAPI EP.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33832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20040"/>
          <a:lstStyle/>
          <a:p>
            <a:pPr algn="ctr">
              <a:spcAft>
                <a:spcPts val="1400"/>
              </a:spcAft>
              <a:defRPr sz="1700" b="1">
                <a:solidFill>
                  <a:srgbClr val="004BA5"/>
                </a:solidFill>
                <a:latin typeface="Segoe UI"/>
              </a:defRPr>
            </a:pPr>
            <a:r>
              <a:t>Qualcomm Hexagon NPU (HTA)</a:t>
            </a:r>
          </a:p>
          <a:p>
            <a:pPr>
              <a:defRPr sz="1300">
                <a:solidFill>
                  <a:srgbClr val="142438"/>
                </a:solidFill>
                <a:latin typeface="Segoe UI"/>
              </a:defRPr>
            </a:pPr>
            <a:r>
              <a:t>Binds ONNX Runtime Mobile directly to Android NNAPI Execution Provider.</a:t>
            </a:r>
            <a:br/>
            <a:r>
              <a:t>Offloads compute-heavy convolutional and matrix multiplications to the Hexagon Tensor Accelerator, completing OCR detection in sub-30ms.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00200"/>
            <a:ext cx="33832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20040"/>
          <a:lstStyle/>
          <a:p>
            <a:pPr algn="ctr">
              <a:spcAft>
                <a:spcPts val="1400"/>
              </a:spcAft>
              <a:defRPr sz="1700" b="1">
                <a:solidFill>
                  <a:srgbClr val="004BA5"/>
                </a:solidFill>
                <a:latin typeface="Segoe UI"/>
              </a:defRPr>
            </a:pPr>
            <a:r>
              <a:t>INT8 Model Quantization</a:t>
            </a:r>
          </a:p>
          <a:p>
            <a:pPr>
              <a:defRPr sz="1300">
                <a:solidFill>
                  <a:srgbClr val="142438"/>
                </a:solidFill>
                <a:latin typeface="Segoe UI"/>
              </a:defRPr>
            </a:pPr>
            <a:r>
              <a:t>Applies symmetric per-channel INT8 quantization to PP-OCRv5 DBNet.</a:t>
            </a:r>
            <a:br/>
            <a:r>
              <a:t>Slashes combined model weights from 17 MB down to 4.2 MB with under 0.3% degradation in character recognition accuracy.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00200"/>
            <a:ext cx="33832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20040"/>
          <a:lstStyle/>
          <a:p>
            <a:pPr algn="ctr">
              <a:spcAft>
                <a:spcPts val="1400"/>
              </a:spcAft>
              <a:defRPr sz="1700" b="1">
                <a:solidFill>
                  <a:srgbClr val="004BA5"/>
                </a:solidFill>
                <a:latin typeface="Segoe UI"/>
              </a:defRPr>
            </a:pPr>
            <a:r>
              <a:t>Zero Cellular Battery Drain</a:t>
            </a:r>
          </a:p>
          <a:p>
            <a:pPr>
              <a:defRPr sz="1300">
                <a:solidFill>
                  <a:srgbClr val="142438"/>
                </a:solidFill>
                <a:latin typeface="Segoe UI"/>
              </a:defRPr>
            </a:pPr>
            <a:r>
              <a:t>Traditional cloud editors keep 5G radios awake with high power drain.</a:t>
            </a:r>
            <a:br/>
            <a:r>
              <a:t>Textract operates 100% locally in RAM and NPU cache, consuming 12x less energy per edit and ensuring complete air-gapped security.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6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04BA5"/>
                </a:solidFill>
                <a:latin typeface="Segoe UI"/>
              </a:defRPr>
            </a:pPr>
            <a:r>
              <a:t>MARKET APPLICATIONS &amp; IMPACT</a:t>
            </a:r>
          </a:p>
          <a:p>
            <a:pPr>
              <a:spcAft>
                <a:spcPts val="200"/>
              </a:spcAft>
              <a:defRPr sz="2200" b="1">
                <a:solidFill>
                  <a:srgbClr val="061830"/>
                </a:solidFill>
                <a:latin typeface="Segoe UI"/>
              </a:defRPr>
            </a:pPr>
            <a:r>
              <a:t>High-Value Business Verticals: Enterprise Applications</a:t>
            </a:r>
          </a:p>
          <a:p>
            <a:pPr>
              <a:defRPr sz="1200">
                <a:solidFill>
                  <a:srgbClr val="142438"/>
                </a:solidFill>
                <a:latin typeface="Segoe UI"/>
              </a:defRPr>
            </a:pPr>
            <a:r>
              <a:t>Empowering businesses to update marketing, event, and compliance documents in seconds.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525780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spcAft>
                <a:spcPts val="800"/>
              </a:spcAft>
              <a:defRPr sz="1700" b="1">
                <a:solidFill>
                  <a:srgbClr val="004BA5"/>
                </a:solidFill>
                <a:latin typeface="Segoe UI"/>
              </a:defRPr>
            </a:pPr>
            <a:r>
              <a:t>🍽️ Retail &amp; Restaurants</a:t>
            </a:r>
          </a:p>
          <a:p>
            <a:pPr>
              <a:defRPr sz="1200">
                <a:solidFill>
                  <a:srgbClr val="142438"/>
                </a:solidFill>
                <a:latin typeface="Segoe UI"/>
              </a:defRPr>
            </a:pPr>
            <a:r>
              <a:t>Update daily specials, happy hour menus, and retail price tags on existing marketing collateral without redesigning from scratch.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600200"/>
            <a:ext cx="525780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spcAft>
                <a:spcPts val="800"/>
              </a:spcAft>
              <a:defRPr sz="1700" b="1">
                <a:solidFill>
                  <a:srgbClr val="004BA5"/>
                </a:solidFill>
                <a:latin typeface="Segoe UI"/>
              </a:defRPr>
            </a:pPr>
            <a:r>
              <a:t>🎟️ Events &amp; Conferences</a:t>
            </a:r>
          </a:p>
          <a:p>
            <a:pPr>
              <a:defRPr sz="1200">
                <a:solidFill>
                  <a:srgbClr val="142438"/>
                </a:solidFill>
                <a:latin typeface="Segoe UI"/>
              </a:defRPr>
            </a:pPr>
            <a:r>
              <a:t>Personalize delegate certificates, modify speaker timetables, and update event banners directly on mobile devices on the event floor.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5780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spcAft>
                <a:spcPts val="800"/>
              </a:spcAft>
              <a:defRPr sz="1700" b="1">
                <a:solidFill>
                  <a:srgbClr val="004BA5"/>
                </a:solidFill>
                <a:latin typeface="Segoe UI"/>
              </a:defRPr>
            </a:pPr>
            <a:r>
              <a:t>🌐 Marketing Localization</a:t>
            </a:r>
          </a:p>
          <a:p>
            <a:pPr>
              <a:defRPr sz="1200">
                <a:solidFill>
                  <a:srgbClr val="142438"/>
                </a:solidFill>
                <a:latin typeface="Segoe UI"/>
              </a:defRPr>
            </a:pPr>
            <a:r>
              <a:t>Translate marketing flyers into regional Indian languages (Hindi, Tamil, Bengali) while strictly retaining brand typography &amp; layout.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931920"/>
            <a:ext cx="525780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spcAft>
                <a:spcPts val="800"/>
              </a:spcAft>
              <a:defRPr sz="1700" b="1">
                <a:solidFill>
                  <a:srgbClr val="004BA5"/>
                </a:solidFill>
                <a:latin typeface="Segoe UI"/>
              </a:defRPr>
            </a:pPr>
            <a:r>
              <a:t>⚖️ Legal &amp; BFSI Redaction</a:t>
            </a:r>
          </a:p>
          <a:p>
            <a:pPr>
              <a:defRPr sz="1200">
                <a:solidFill>
                  <a:srgbClr val="142438"/>
                </a:solidFill>
                <a:latin typeface="Segoe UI"/>
              </a:defRPr>
            </a:pPr>
            <a:r>
              <a:t>Local air-gapped document editing: redact account numbers, correct dates, and update compliance forms with 100% data confidentiality.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6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04BA5"/>
                </a:solidFill>
                <a:latin typeface="Segoe UI"/>
              </a:defRPr>
            </a:pPr>
            <a:r>
              <a:t>ROADMAP &amp; VISION</a:t>
            </a:r>
          </a:p>
          <a:p>
            <a:pPr>
              <a:spcAft>
                <a:spcPts val="200"/>
              </a:spcAft>
              <a:defRPr sz="2200" b="1">
                <a:solidFill>
                  <a:srgbClr val="061830"/>
                </a:solidFill>
                <a:latin typeface="Segoe UI"/>
              </a:defRPr>
            </a:pPr>
            <a:r>
              <a:t>The Future of Document Synthesis: Next Milestones</a:t>
            </a:r>
          </a:p>
          <a:p>
            <a:pPr>
              <a:defRPr sz="1200">
                <a:solidFill>
                  <a:srgbClr val="142438"/>
                </a:solidFill>
                <a:latin typeface="Segoe UI"/>
              </a:defRPr>
            </a:pPr>
            <a:r>
              <a:t>Strategic evolution from web proof-of-concept to native iQOO mobile ecosystem.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3383280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4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000"/>
              </a:spcAft>
              <a:defRPr sz="1400" b="1">
                <a:solidFill>
                  <a:srgbClr val="004BA5"/>
                </a:solidFill>
                <a:latin typeface="Segoe UI"/>
              </a:defRPr>
            </a:pPr>
            <a:r>
              <a:t>Phase 1: Shipped &amp; Validated</a:t>
            </a:r>
          </a:p>
          <a:p>
            <a:pPr>
              <a:defRPr sz="1100">
                <a:solidFill>
                  <a:srgbClr val="142438"/>
                </a:solidFill>
                <a:latin typeface="Segoe UI"/>
              </a:defRPr>
            </a:pPr>
            <a:r>
              <a:t>• FastAPI + ONNX Runtime backend</a:t>
            </a:r>
            <a:br/>
            <a:r>
              <a:t>• 11-D Typography Profiler</a:t>
            </a:r>
            <a:br/>
            <a:r>
              <a:t>• OpenCV Telea Inpainting</a:t>
            </a:r>
            <a:br/>
            <a:r>
              <a:t>• 8-Way Resize &amp; Move Transform</a:t>
            </a:r>
            <a:br/>
            <a:r>
              <a:t>• Before/After Split Slider</a:t>
            </a:r>
            <a:br/>
            <a:r>
              <a:t>• Batch Multi-Edit Mode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00200"/>
            <a:ext cx="3383280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000"/>
              </a:spcAft>
              <a:defRPr sz="1400" b="1">
                <a:solidFill>
                  <a:srgbClr val="061830"/>
                </a:solidFill>
                <a:latin typeface="Segoe UI"/>
              </a:defRPr>
            </a:pPr>
            <a:r>
              <a:t>Phase 2: iQOO Native App (Q3 2026)</a:t>
            </a:r>
          </a:p>
          <a:p>
            <a:pPr>
              <a:defRPr sz="1100">
                <a:solidFill>
                  <a:srgbClr val="142438"/>
                </a:solidFill>
                <a:latin typeface="Segoe UI"/>
              </a:defRPr>
            </a:pPr>
            <a:r>
              <a:t>• Jetpack Compose Material 3 UI</a:t>
            </a:r>
            <a:br/>
            <a:r>
              <a:t>• Qualcomm Hexagon NPU offload</a:t>
            </a:r>
            <a:br/>
            <a:r>
              <a:t>• Android MediaStore integration</a:t>
            </a:r>
            <a:br/>
            <a:r>
              <a:t>• Scoped storage security</a:t>
            </a:r>
            <a:br/>
            <a:r>
              <a:t>• On-device offline Speech-to-Text</a:t>
            </a:r>
            <a:br/>
            <a:r>
              <a:t>• Haptic slider feedback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00200"/>
            <a:ext cx="3383280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000"/>
              </a:spcAft>
              <a:defRPr sz="1400" b="1">
                <a:solidFill>
                  <a:srgbClr val="061830"/>
                </a:solidFill>
                <a:latin typeface="Segoe UI"/>
              </a:defRPr>
            </a:pPr>
            <a:r>
              <a:t>Phase 3: Advanced Vision (Q4 2026)</a:t>
            </a:r>
          </a:p>
          <a:p>
            <a:pPr>
              <a:defRPr sz="1100">
                <a:solidFill>
                  <a:srgbClr val="142438"/>
                </a:solidFill>
                <a:latin typeface="Segoe UI"/>
              </a:defRPr>
            </a:pPr>
            <a:r>
              <a:t>• Curved &amp; perspective text warping</a:t>
            </a:r>
            <a:br/>
            <a:r>
              <a:t>• Multi-line paragraph auto-reflow</a:t>
            </a:r>
            <a:br/>
            <a:r>
              <a:t>• Automatic Google Fonts CDN pairing</a:t>
            </a:r>
            <a:br/>
            <a:r>
              <a:t>• Multilingual Devanagari/Tamil fonts</a:t>
            </a:r>
            <a:br/>
            <a:r>
              <a:t>• Vector PDF direct export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28655" cy="1280160"/>
          </a:xfrm>
          <a:prstGeom prst="roundRect">
            <a:avLst/>
          </a:prstGeom>
          <a:solidFill>
            <a:srgbClr val="061830"/>
          </a:solidFill>
          <a:ln w="15240">
            <a:solidFill>
              <a:srgbClr val="061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64592"/>
          <a:lstStyle/>
          <a:p>
            <a:pPr algn="ctr">
              <a:defRPr sz="1600" b="1">
                <a:solidFill>
                  <a:srgbClr val="00FFFF"/>
                </a:solidFill>
                <a:latin typeface="Segoe UI"/>
              </a:defRPr>
            </a:pPr>
            <a:r>
              <a:t>Textract: "Don't recreate the document. Just edit the text."</a:t>
            </a:r>
          </a:p>
          <a:p>
            <a:pPr>
              <a:spcAft>
                <a:spcPts val="2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iQOO Hackathon 2026 Submission  |  Project: Textract  |  Teammates: Krishan Gupta, Gourav Chakraborty</a:t>
            </a:r>
          </a:p>
          <a:p>
            <a:pPr>
              <a:defRPr sz="1050">
                <a:solidFill>
                  <a:srgbClr val="8CE6FA"/>
                </a:solidFill>
                <a:latin typeface="Segoe UI"/>
              </a:defRPr>
            </a:pPr>
            <a:r>
              <a:t>Repository: Open Source MIT License  ·  Validated on iQOO Flagship &amp; Neo Series Hardware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